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60" d="100"/>
          <a:sy n="60" d="100"/>
        </p:scale>
        <p:origin x="800" y="184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400" y="254000"/>
            <a:ext cx="1905000" cy="33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1800" b="1">
                <a:solidFill>
                  <a:srgbClr val="2f6b4f"/>
                </a:solidFill>
                <a:latin typeface="Pretendard"/>
              </a:rPr>
              <a:t>WhyTree</a:t>
            </a:r>
            <a:endParaRPr sz="1800" b="1">
              <a:solidFill>
                <a:srgbClr val="2f6b4f"/>
              </a:solidFill>
              <a:latin typeface="Pretend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61249" y="66675"/>
            <a:ext cx="952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1100" b="0">
                <a:solidFill>
                  <a:srgbClr val="6a7179"/>
                </a:solidFill>
                <a:latin typeface="Pretendard"/>
              </a:rPr>
              <a:t>이름 또는 별명</a:t>
            </a:r>
            <a:endParaRPr sz="1100" b="0">
              <a:solidFill>
                <a:srgbClr val="6a7179"/>
              </a:solidFill>
              <a:latin typeface="Pretendard"/>
            </a:endParaRPr>
          </a:p>
        </p:txBody>
      </p:sp>
      <p:sp>
        <p:nvSpPr>
          <p:cNvPr id="4" name="입력: 이름 또는 별명"/>
          <p:cNvSpPr/>
          <p:nvPr/>
        </p:nvSpPr>
        <p:spPr>
          <a:xfrm>
            <a:off x="8413749" y="0"/>
            <a:ext cx="1905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300">
                <a:solidFill>
                  <a:srgbClr val="1f2a2e"/>
                </a:solidFill>
                <a:latin typeface="Pretendard"/>
              </a:rPr>
              <a:t>이동영</a:t>
            </a:r>
            <a:endParaRPr lang="ko-KR" altLang="en-US" sz="130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41171" y="66675"/>
            <a:ext cx="353827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1100" b="0">
                <a:solidFill>
                  <a:srgbClr val="6a7179"/>
                </a:solidFill>
                <a:latin typeface="Pretendard"/>
              </a:rPr>
              <a:t>날짜</a:t>
            </a:r>
            <a:endParaRPr sz="1100" b="0">
              <a:solidFill>
                <a:srgbClr val="6a7179"/>
              </a:solidFill>
              <a:latin typeface="Pretendard"/>
            </a:endParaRPr>
          </a:p>
        </p:txBody>
      </p:sp>
      <p:sp>
        <p:nvSpPr>
          <p:cNvPr id="6" name="입력: 날짜"/>
          <p:cNvSpPr/>
          <p:nvPr/>
        </p:nvSpPr>
        <p:spPr>
          <a:xfrm>
            <a:off x="10795000" y="0"/>
            <a:ext cx="1397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sz="1300">
                <a:solidFill>
                  <a:srgbClr val="1f2a2e"/>
                </a:solidFill>
                <a:latin typeface="Pretendard"/>
              </a:rPr>
              <a:t>2026-</a:t>
            </a:r>
            <a:r>
              <a:rPr lang="en-US" altLang="ko-KR" sz="1300">
                <a:solidFill>
                  <a:srgbClr val="1f2a2e"/>
                </a:solidFill>
                <a:latin typeface="Pretendard"/>
              </a:rPr>
              <a:t>10-29</a:t>
            </a:r>
            <a:endParaRPr lang="en-US" altLang="ko-KR" sz="130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0" name="why: 좋은 하루"/>
          <p:cNvSpPr/>
          <p:nvPr/>
        </p:nvSpPr>
        <p:spPr>
          <a:xfrm>
            <a:off x="5079999" y="1320006"/>
            <a:ext cx="1651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anchor="ctr"/>
          <a:lstStyle/>
          <a:p>
            <a:pPr lvl="0" algn="ctr">
              <a:defRPr/>
            </a:pPr>
            <a:r>
              <a:rPr lang="ko-KR" altLang="en-US" sz="1300" b="1">
                <a:solidFill>
                  <a:srgbClr val="1f2a2e"/>
                </a:solidFill>
                <a:latin typeface="Pretendard"/>
              </a:rPr>
              <a:t>방문</a:t>
            </a:r>
            <a:r>
              <a:rPr lang="en-US" altLang="ko-KR" sz="1300" b="1">
                <a:solidFill>
                  <a:srgbClr val="1f2a2e"/>
                </a:solidFill>
                <a:latin typeface="Pretendard"/>
              </a:rPr>
              <a:t>(</a:t>
            </a:r>
            <a:r>
              <a:rPr lang="ko-KR" altLang="en-US" sz="1300" b="1">
                <a:solidFill>
                  <a:srgbClr val="1f2a2e"/>
                </a:solidFill>
                <a:latin typeface="Pretendard"/>
              </a:rPr>
              <a:t>관리</a:t>
            </a:r>
            <a:r>
              <a:rPr lang="en-US" altLang="ko-KR" sz="1300" b="1">
                <a:solidFill>
                  <a:srgbClr val="1f2a2e"/>
                </a:solidFill>
                <a:latin typeface="Pretendard"/>
              </a:rPr>
              <a:t>)</a:t>
            </a:r>
            <a:r>
              <a:rPr lang="ko-KR" altLang="en-US" sz="1300" b="1">
                <a:solidFill>
                  <a:srgbClr val="1f2a2e"/>
                </a:solidFill>
                <a:latin typeface="Pretendard"/>
              </a:rPr>
              <a:t> 부담 덜기</a:t>
            </a:r>
            <a:endParaRPr lang="ko-KR" altLang="en-US" sz="1300" b="1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6" name="why: 목 마사지기"/>
          <p:cNvSpPr/>
          <p:nvPr/>
        </p:nvSpPr>
        <p:spPr>
          <a:xfrm>
            <a:off x="774699" y="5157784"/>
            <a:ext cx="1397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anchor="ctr"/>
          <a:lstStyle/>
          <a:p>
            <a:pPr lvl="0" algn="ctr">
              <a:defRPr/>
            </a:pPr>
            <a:r>
              <a:rPr lang="ko-KR" altLang="en-US" sz="1300" b="1">
                <a:solidFill>
                  <a:srgbClr val="1f2a2e"/>
                </a:solidFill>
                <a:latin typeface="Pretendard"/>
              </a:rPr>
              <a:t> 수확체험 운영</a:t>
            </a:r>
            <a:endParaRPr lang="ko-KR" altLang="en-US" sz="1300" b="1">
              <a:solidFill>
                <a:srgbClr val="1f2a2e"/>
              </a:solidFill>
              <a:latin typeface="Pretendard"/>
            </a:endParaRPr>
          </a:p>
        </p:txBody>
      </p:sp>
      <p:cxnSp>
        <p:nvCxnSpPr>
          <p:cNvPr id="20" name="화살표"/>
          <p:cNvCxnSpPr/>
          <p:nvPr/>
        </p:nvCxnSpPr>
        <p:spPr>
          <a:xfrm rot="10800000">
            <a:off x="4413249" y="3036890"/>
            <a:ext cx="1954208" cy="9017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화살표"/>
          <p:cNvCxnSpPr/>
          <p:nvPr/>
        </p:nvCxnSpPr>
        <p:spPr>
          <a:xfrm flipV="1">
            <a:off x="1441449" y="4445000"/>
            <a:ext cx="1495424" cy="736593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화살표"/>
          <p:cNvCxnSpPr/>
          <p:nvPr/>
        </p:nvCxnSpPr>
        <p:spPr>
          <a:xfrm flipV="1">
            <a:off x="2952749" y="3035300"/>
            <a:ext cx="1460500" cy="9017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화살표"/>
          <p:cNvCxnSpPr/>
          <p:nvPr/>
        </p:nvCxnSpPr>
        <p:spPr>
          <a:xfrm flipV="1">
            <a:off x="711200" y="5619750"/>
            <a:ext cx="698500" cy="544936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eed: 침대"/>
          <p:cNvSpPr/>
          <p:nvPr/>
        </p:nvSpPr>
        <p:spPr>
          <a:xfrm>
            <a:off x="139699" y="6149975"/>
            <a:ext cx="1270000" cy="50800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anchor="ctr"/>
          <a:lstStyle/>
          <a:p>
            <a:pPr lvl="0" algn="ctr">
              <a:defRPr/>
            </a:pPr>
            <a:r>
              <a:rPr lang="ko-KR" altLang="en-US" sz="1300" b="1">
                <a:solidFill>
                  <a:srgbClr val="1f2a2e"/>
                </a:solidFill>
                <a:latin typeface="Pretendard"/>
              </a:rPr>
              <a:t>수요 조사</a:t>
            </a:r>
            <a:endParaRPr lang="ko-KR" altLang="en-US" sz="1300" b="1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34" name="seed: 침대"/>
          <p:cNvSpPr/>
          <p:nvPr/>
        </p:nvSpPr>
        <p:spPr>
          <a:xfrm>
            <a:off x="1765300" y="6149975"/>
            <a:ext cx="1270000" cy="50800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anchor="ctr"/>
          <a:lstStyle/>
          <a:p>
            <a:pPr lvl="0" algn="ctr">
              <a:defRPr/>
            </a:pPr>
            <a:r>
              <a:rPr lang="ko-KR" altLang="en-US" sz="1300" b="1">
                <a:solidFill>
                  <a:srgbClr val="1f2a2e"/>
                </a:solidFill>
                <a:latin typeface="Pretendard"/>
              </a:rPr>
              <a:t>예약페이지 제작</a:t>
            </a:r>
            <a:endParaRPr lang="ko-KR" altLang="en-US" sz="1300" b="1">
              <a:solidFill>
                <a:srgbClr val="1f2a2e"/>
              </a:solidFill>
              <a:latin typeface="Pretendard"/>
            </a:endParaRPr>
          </a:p>
        </p:txBody>
      </p:sp>
      <p:cxnSp>
        <p:nvCxnSpPr>
          <p:cNvPr id="35" name="화살표"/>
          <p:cNvCxnSpPr/>
          <p:nvPr/>
        </p:nvCxnSpPr>
        <p:spPr>
          <a:xfrm rot="10800000">
            <a:off x="1508124" y="5619750"/>
            <a:ext cx="892175" cy="53022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why: 목 마사지기"/>
          <p:cNvSpPr/>
          <p:nvPr/>
        </p:nvSpPr>
        <p:spPr>
          <a:xfrm>
            <a:off x="2311400" y="3937000"/>
            <a:ext cx="1397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anchor="ctr"/>
          <a:lstStyle/>
          <a:p>
            <a:pPr lvl="0" algn="ctr">
              <a:defRPr/>
            </a:pPr>
            <a:r>
              <a:rPr lang="ko-KR" altLang="en-US" sz="1300" b="1">
                <a:solidFill>
                  <a:srgbClr val="1f2a2e"/>
                </a:solidFill>
                <a:latin typeface="Pretendard"/>
              </a:rPr>
              <a:t>수확인력 확보</a:t>
            </a:r>
            <a:endParaRPr lang="ko-KR" altLang="en-US" sz="1300" b="1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37" name="why: 목 마사지기"/>
          <p:cNvSpPr/>
          <p:nvPr/>
        </p:nvSpPr>
        <p:spPr>
          <a:xfrm>
            <a:off x="3682999" y="2481262"/>
            <a:ext cx="1397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anchor="ctr"/>
          <a:lstStyle/>
          <a:p>
            <a:pPr lvl="0" algn="ctr">
              <a:defRPr/>
            </a:pPr>
            <a:r>
              <a:rPr lang="ko-KR" altLang="en-US" sz="1300" b="1">
                <a:solidFill>
                  <a:srgbClr val="1f2a2e"/>
                </a:solidFill>
                <a:latin typeface="Pretendard"/>
              </a:rPr>
              <a:t>농지 방치 막기</a:t>
            </a:r>
            <a:endParaRPr lang="ko-KR" altLang="en-US" sz="1300" b="1">
              <a:solidFill>
                <a:srgbClr val="1f2a2e"/>
              </a:solidFill>
              <a:latin typeface="Pretendard"/>
            </a:endParaRPr>
          </a:p>
        </p:txBody>
      </p:sp>
      <p:cxnSp>
        <p:nvCxnSpPr>
          <p:cNvPr id="38" name="화살표"/>
          <p:cNvCxnSpPr/>
          <p:nvPr/>
        </p:nvCxnSpPr>
        <p:spPr>
          <a:xfrm rot="10800000">
            <a:off x="2936874" y="4445000"/>
            <a:ext cx="1698625" cy="714367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견본: 아직 하지 않는 일 (점선)"/>
          <p:cNvSpPr/>
          <p:nvPr/>
        </p:nvSpPr>
        <p:spPr>
          <a:xfrm>
            <a:off x="5541957" y="3937000"/>
            <a:ext cx="1651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anchor="ctr"/>
          <a:lstStyle/>
          <a:p>
            <a:pPr lvl="0" algn="ctr">
              <a:defRPr/>
            </a:pPr>
            <a:r>
              <a:rPr lang="ko-KR" altLang="en-US" sz="1100" b="1">
                <a:solidFill>
                  <a:srgbClr val="1f2a2e"/>
                </a:solidFill>
                <a:latin typeface="Pretendard"/>
              </a:rPr>
              <a:t>농지 양도</a:t>
            </a:r>
            <a:r>
              <a:rPr lang="en-US" altLang="ko-KR" sz="1100" b="1">
                <a:solidFill>
                  <a:srgbClr val="1f2a2e"/>
                </a:solidFill>
                <a:latin typeface="Pretendard"/>
              </a:rPr>
              <a:t>/</a:t>
            </a:r>
            <a:r>
              <a:rPr lang="ko-KR" altLang="en-US" sz="1100" b="1">
                <a:solidFill>
                  <a:srgbClr val="1f2a2e"/>
                </a:solidFill>
                <a:latin typeface="Pretendard"/>
              </a:rPr>
              <a:t>매각 </a:t>
            </a:r>
            <a:endParaRPr lang="ko-KR" altLang="en-US" sz="1100" b="1">
              <a:solidFill>
                <a:srgbClr val="1f2a2e"/>
              </a:solidFill>
              <a:latin typeface="Pretendard"/>
            </a:endParaRPr>
          </a:p>
        </p:txBody>
      </p:sp>
      <p:cxnSp>
        <p:nvCxnSpPr>
          <p:cNvPr id="40" name="화살표"/>
          <p:cNvCxnSpPr>
            <a:stCxn id="37" idx="0"/>
          </p:cNvCxnSpPr>
          <p:nvPr/>
        </p:nvCxnSpPr>
        <p:spPr>
          <a:xfrm flipV="1">
            <a:off x="4381499" y="1809750"/>
            <a:ext cx="1404937" cy="67151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견본: 아직 하지 않는 일 (점선)"/>
          <p:cNvSpPr/>
          <p:nvPr/>
        </p:nvSpPr>
        <p:spPr>
          <a:xfrm>
            <a:off x="3809999" y="5159369"/>
            <a:ext cx="1651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anchor="ctr"/>
          <a:lstStyle/>
          <a:p>
            <a:pPr lvl="0" algn="ctr">
              <a:defRPr/>
            </a:pPr>
            <a:r>
              <a:rPr lang="ko-KR" altLang="en-US" sz="1100" b="1">
                <a:solidFill>
                  <a:srgbClr val="1f2a2e"/>
                </a:solidFill>
                <a:latin typeface="Pretendard"/>
              </a:rPr>
              <a:t>전문인력</a:t>
            </a:r>
            <a:r>
              <a:rPr lang="en-US" altLang="ko-KR" sz="1100" b="1">
                <a:solidFill>
                  <a:srgbClr val="1f2a2e"/>
                </a:solidFill>
                <a:latin typeface="Pretendard"/>
              </a:rPr>
              <a:t>/</a:t>
            </a:r>
            <a:r>
              <a:rPr lang="ko-KR" altLang="en-US" sz="1100" b="1">
                <a:solidFill>
                  <a:srgbClr val="1f2a2e"/>
                </a:solidFill>
                <a:latin typeface="Pretendard"/>
              </a:rPr>
              <a:t>기계</a:t>
            </a:r>
            <a:endParaRPr lang="ko-KR" altLang="en-US" sz="1100" b="1">
              <a:solidFill>
                <a:srgbClr val="1f2a2e"/>
              </a:solidFill>
              <a:latin typeface="Pretendard"/>
            </a:endParaRPr>
          </a:p>
          <a:p>
            <a:pPr lvl="0" algn="ctr">
              <a:defRPr/>
            </a:pPr>
            <a:r>
              <a:rPr lang="ko-KR" altLang="en-US" sz="1100" b="1">
                <a:solidFill>
                  <a:srgbClr val="1f2a2e"/>
                </a:solidFill>
                <a:latin typeface="Pretendard"/>
              </a:rPr>
              <a:t>공급업자 매칭 </a:t>
            </a:r>
            <a:endParaRPr lang="ko-KR" altLang="en-US" sz="1100" b="1">
              <a:solidFill>
                <a:srgbClr val="1f2a2e"/>
              </a:solidFill>
              <a:latin typeface="Pretendard"/>
            </a:endParaRPr>
          </a:p>
        </p:txBody>
      </p:sp>
      <p:cxnSp>
        <p:nvCxnSpPr>
          <p:cNvPr id="43" name="화살표"/>
          <p:cNvCxnSpPr/>
          <p:nvPr/>
        </p:nvCxnSpPr>
        <p:spPr>
          <a:xfrm rot="16200000" flipV="1">
            <a:off x="5684037" y="1098544"/>
            <a:ext cx="434975" cy="7949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why: 좋은 하루"/>
          <p:cNvSpPr/>
          <p:nvPr/>
        </p:nvSpPr>
        <p:spPr>
          <a:xfrm>
            <a:off x="5079999" y="422275"/>
            <a:ext cx="1651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anchor="ctr"/>
          <a:lstStyle/>
          <a:p>
            <a:pPr lvl="0" algn="ctr">
              <a:defRPr/>
            </a:pPr>
            <a:r>
              <a:rPr lang="ko-KR" altLang="en-US" sz="1300" b="1">
                <a:solidFill>
                  <a:srgbClr val="1f2a2e"/>
                </a:solidFill>
                <a:latin typeface="Pretendard"/>
              </a:rPr>
              <a:t>농지 걱정없이</a:t>
            </a:r>
            <a:endParaRPr lang="ko-KR" altLang="en-US" sz="1300" b="1">
              <a:solidFill>
                <a:srgbClr val="1f2a2e"/>
              </a:solidFill>
              <a:latin typeface="Pretendard"/>
            </a:endParaRPr>
          </a:p>
          <a:p>
            <a:pPr lvl="0" algn="ctr">
              <a:defRPr/>
            </a:pPr>
            <a:r>
              <a:rPr lang="ko-KR" altLang="en-US" sz="1300" b="1">
                <a:solidFill>
                  <a:srgbClr val="1f2a2e"/>
                </a:solidFill>
                <a:latin typeface="Pretendard"/>
              </a:rPr>
              <a:t>지내기</a:t>
            </a:r>
            <a:endParaRPr lang="ko-KR" altLang="en-US" sz="1300" b="1">
              <a:solidFill>
                <a:srgbClr val="1f2a2e"/>
              </a:solidFill>
              <a:latin typeface="Pretendard"/>
            </a:endParaRPr>
          </a:p>
        </p:txBody>
      </p:sp>
      <p:cxnSp>
        <p:nvCxnSpPr>
          <p:cNvPr id="45" name="화살표 (점선: 부가적인 why)"/>
          <p:cNvCxnSpPr>
            <a:endCxn id="37" idx="2"/>
          </p:cNvCxnSpPr>
          <p:nvPr/>
        </p:nvCxnSpPr>
        <p:spPr>
          <a:xfrm rot="16200000" flipV="1">
            <a:off x="3407566" y="3963195"/>
            <a:ext cx="2252660" cy="304795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화살표 (점선: 부가적인 why)"/>
          <p:cNvCxnSpPr>
            <a:endCxn id="10" idx="2"/>
          </p:cNvCxnSpPr>
          <p:nvPr/>
        </p:nvCxnSpPr>
        <p:spPr>
          <a:xfrm rot="16200000" flipV="1">
            <a:off x="5035945" y="2697560"/>
            <a:ext cx="2234404" cy="495296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화살표"/>
          <p:cNvCxnSpPr>
            <a:stCxn id="48" idx="0"/>
          </p:cNvCxnSpPr>
          <p:nvPr/>
        </p:nvCxnSpPr>
        <p:spPr>
          <a:xfrm rot="10800000">
            <a:off x="1508124" y="5619750"/>
            <a:ext cx="2940843" cy="53022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seed: 침대"/>
          <p:cNvSpPr/>
          <p:nvPr/>
        </p:nvSpPr>
        <p:spPr>
          <a:xfrm>
            <a:off x="3813967" y="6149975"/>
            <a:ext cx="1270000" cy="50800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anchor="ctr"/>
          <a:lstStyle/>
          <a:p>
            <a:pPr lvl="0" algn="ctr">
              <a:defRPr/>
            </a:pPr>
            <a:r>
              <a:rPr lang="ko-KR" altLang="en-US" sz="1300" b="1">
                <a:solidFill>
                  <a:srgbClr val="1f2a2e"/>
                </a:solidFill>
                <a:latin typeface="Pretendard"/>
              </a:rPr>
              <a:t>수확프로그램</a:t>
            </a:r>
            <a:endParaRPr lang="ko-KR" altLang="en-US" sz="1300" b="1">
              <a:solidFill>
                <a:srgbClr val="1f2a2e"/>
              </a:solidFill>
              <a:latin typeface="Pretendard"/>
            </a:endParaRPr>
          </a:p>
          <a:p>
            <a:pPr lvl="0" algn="ctr">
              <a:defRPr/>
            </a:pPr>
            <a:r>
              <a:rPr lang="ko-KR" altLang="en-US" sz="1300" b="1">
                <a:solidFill>
                  <a:srgbClr val="1f2a2e"/>
                </a:solidFill>
                <a:latin typeface="Pretendard"/>
              </a:rPr>
              <a:t>설계</a:t>
            </a:r>
            <a:endParaRPr lang="ko-KR" altLang="en-US" sz="1300" b="1">
              <a:solidFill>
                <a:srgbClr val="1f2a2e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776268500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30</ep:Words>
  <ep:PresentationFormat>Widescreen</ep:PresentationFormat>
  <ep:Paragraphs>18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Office Theme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enthu</cp:lastModifiedBy>
  <dcterms:modified xsi:type="dcterms:W3CDTF">2026-10-29T13:35:56.963</dcterms:modified>
  <cp:revision>12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